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115568"/>
            <a:ext cx="6583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spc="100" kern="0" dirty="0">
                <a:solidFill>
                  <a:srgbClr val="F5EDE4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TRIP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658368" y="2231136"/>
            <a:ext cx="6583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spc="100" kern="0" dirty="0">
                <a:solidFill>
                  <a:srgbClr val="C43B1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TREK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685800" y="36576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B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Путешествия с друзьями — в одном приложении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420624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9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Маршрут по дням, карта, бюджет с расчётом долгов, чат, гастрогид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9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ИИ-помощник. Спланируйте вместе — и отправляйтесь вместе.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5303520"/>
            <a:ext cx="2697480" cy="384048"/>
          </a:xfrm>
          <a:prstGeom prst="roundRect">
            <a:avLst>
              <a:gd name="adj" fmla="val 47619"/>
            </a:avLst>
          </a:prstGeom>
          <a:solidFill>
            <a:srgbClr val="FFFDF9">
              <a:alpha val="0"/>
            </a:srgbClr>
          </a:solidFill>
          <a:ln w="12700">
            <a:solidFill>
              <a:srgbClr val="6B4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28980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PWA — без магазина приложений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5303520"/>
            <a:ext cx="1143000" cy="384048"/>
          </a:xfrm>
          <a:prstGeom prst="roundRect">
            <a:avLst>
              <a:gd name="adj" fmla="val 47619"/>
            </a:avLst>
          </a:prstGeom>
          <a:solidFill>
            <a:srgbClr val="FFFDF9">
              <a:alpha val="0"/>
            </a:srgbClr>
          </a:solidFill>
          <a:ln w="12700">
            <a:solidFill>
              <a:srgbClr val="6B4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528980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530352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FFFDF9">
              <a:alpha val="0"/>
            </a:srgbClr>
          </a:solidFill>
          <a:ln w="12700">
            <a:solidFill>
              <a:srgbClr val="6B4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52898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ИИ-помощник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6236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B7A9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triptrek.guild-ledger.net.by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flipV="1">
            <a:off x="7315200" y="5577840"/>
            <a:ext cx="1417320" cy="457200"/>
          </a:xfrm>
          <a:prstGeom prst="line">
            <a:avLst/>
          </a:prstGeom>
          <a:noFill/>
          <a:ln w="19050">
            <a:solidFill>
              <a:srgbClr val="7A453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269480" y="5989320"/>
            <a:ext cx="91440" cy="91440"/>
          </a:xfrm>
          <a:prstGeom prst="ellipse">
            <a:avLst/>
          </a:prstGeom>
          <a:solidFill>
            <a:srgbClr val="7A4530"/>
          </a:solidFill>
          <a:ln/>
        </p:spPr>
      </p:sp>
      <p:sp>
        <p:nvSpPr>
          <p:cNvPr id="15" name="Shape 13"/>
          <p:cNvSpPr/>
          <p:nvPr/>
        </p:nvSpPr>
        <p:spPr>
          <a:xfrm>
            <a:off x="8677656" y="5522976"/>
            <a:ext cx="109728" cy="109728"/>
          </a:xfrm>
          <a:prstGeom prst="ellipse">
            <a:avLst/>
          </a:prstGeom>
          <a:solidFill>
            <a:srgbClr val="F2AB83"/>
          </a:solidFill>
          <a:ln w="12700">
            <a:solidFill>
              <a:srgbClr val="7A45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1360000">
            <a:off x="8156719" y="658368"/>
            <a:ext cx="2614642" cy="5541264"/>
          </a:xfrm>
          <a:prstGeom prst="roundRect">
            <a:avLst>
              <a:gd name="adj" fmla="val 4896"/>
            </a:avLst>
          </a:prstGeom>
          <a:solidFill>
            <a:srgbClr val="17100D"/>
          </a:solidFill>
          <a:ln w="9525">
            <a:solidFill>
              <a:srgbClr val="3D2C22"/>
            </a:solidFill>
            <a:prstDash val="solid"/>
          </a:ln>
          <a:effectLst>
            <a:outerShdw sx="100000" sy="100000" kx="0" ky="0" algn="bl" rotWithShape="0" blurRad="330200" dist="50800" dir="16200000">
              <a:srgbClr val="C43B15">
                <a:alpha val="45000"/>
              </a:srgbClr>
            </a:outerShdw>
          </a:effectLst>
        </p:spPr>
      </p:sp>
      <p:pic>
        <p:nvPicPr>
          <p:cNvPr id="17" name="Image 0" descr="C:\Users\world\.zcode\workspace\default\triptrek-deck\assets\phone_hd-obz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8207011" y="708660"/>
            <a:ext cx="2514058" cy="54406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C43B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ЗНАКОМО?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Поездка начинается не в аэропорту,</a:t>
            </a:r>
            <a:endParaRPr lang="en-US" sz="2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а в чате — и тонет там же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4094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2295144"/>
            <a:ext cx="51023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Чат — не планировщик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Важные решения гниют между стикерами и «ахаха»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4884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3374136"/>
            <a:ext cx="51023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Бюджет — чья-то таблица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Никто не помнит, кто за что заплатил, и напоминать неловко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45674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4453128"/>
            <a:ext cx="51023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Маршрут — в заметках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Скриншоты, ссылки — и сто раз переписанный план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1737360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4D8CB"/>
            </a:solidFill>
            <a:prstDash val="solid"/>
          </a:ln>
          <a:effectLst>
            <a:outerShdw sx="100000" sy="100000" kx="0" ky="0" algn="bl" rotWithShape="0" blurRad="101600" dist="38100" dir="2700000">
              <a:srgbClr val="3A241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723644"/>
            <a:ext cx="1600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Чаты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11312" y="1965960"/>
            <a:ext cx="640080" cy="0"/>
          </a:xfrm>
          <a:prstGeom prst="line">
            <a:avLst/>
          </a:prstGeom>
          <a:noFill/>
          <a:ln w="22225">
            <a:solidFill>
              <a:srgbClr val="C43B15"/>
            </a:solidFill>
            <a:prstDash val="dash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37960" y="2971800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4D8CB"/>
            </a:solidFill>
            <a:prstDash val="solid"/>
          </a:ln>
          <a:effectLst>
            <a:outerShdw sx="100000" sy="100000" kx="0" ky="0" algn="bl" rotWithShape="0" blurRad="101600" dist="38100" dir="2700000">
              <a:srgbClr val="3A241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2958084"/>
            <a:ext cx="1600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Таблицы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11312" y="3200400"/>
            <a:ext cx="640080" cy="0"/>
          </a:xfrm>
          <a:prstGeom prst="line">
            <a:avLst/>
          </a:prstGeom>
          <a:noFill/>
          <a:ln w="22225">
            <a:solidFill>
              <a:srgbClr val="C43B15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37960" y="4206240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4D8CB"/>
            </a:solidFill>
            <a:prstDash val="solid"/>
          </a:ln>
          <a:effectLst>
            <a:outerShdw sx="100000" sy="100000" kx="0" ky="0" algn="bl" rotWithShape="0" blurRad="101600" dist="38100" dir="2700000">
              <a:srgbClr val="3A241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4192524"/>
            <a:ext cx="1600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Заметки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11312" y="4434840"/>
            <a:ext cx="640080" cy="0"/>
          </a:xfrm>
          <a:prstGeom prst="line">
            <a:avLst/>
          </a:prstGeom>
          <a:noFill/>
          <a:ln w="22225">
            <a:solidFill>
              <a:srgbClr val="C43B15"/>
            </a:solidFill>
            <a:prstDash val="dash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37960" y="5440680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4D8CB"/>
            </a:solidFill>
            <a:prstDash val="solid"/>
          </a:ln>
          <a:effectLst>
            <a:outerShdw sx="100000" sy="100000" kx="0" ky="0" algn="bl" rotWithShape="0" blurRad="101600" dist="38100" dir="2700000">
              <a:srgbClr val="3A241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5426964"/>
            <a:ext cx="1600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Скриншоты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11312" y="5669280"/>
            <a:ext cx="640080" cy="0"/>
          </a:xfrm>
          <a:prstGeom prst="line">
            <a:avLst/>
          </a:prstGeom>
          <a:noFill/>
          <a:ln w="22225">
            <a:solidFill>
              <a:srgbClr val="C43B15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23721" y="1458468"/>
            <a:ext cx="2086479" cy="4398264"/>
          </a:xfrm>
          <a:prstGeom prst="roundRect">
            <a:avLst>
              <a:gd name="adj" fmla="val 6136"/>
            </a:avLst>
          </a:prstGeom>
          <a:solidFill>
            <a:srgbClr val="17100D"/>
          </a:solidFill>
          <a:ln w="9525">
            <a:solidFill>
              <a:srgbClr val="3D2C22"/>
            </a:solidFill>
            <a:prstDash val="solid"/>
          </a:ln>
          <a:effectLst>
            <a:outerShdw sx="100000" sy="100000" kx="0" ky="0" algn="bl" rotWithShape="0" blurRad="203200" dist="76200" dir="2700000">
              <a:srgbClr val="3A2418">
                <a:alpha val="35000"/>
              </a:srgbClr>
            </a:outerShdw>
          </a:effectLst>
        </p:spPr>
      </p:sp>
      <p:pic>
        <p:nvPicPr>
          <p:cNvPr id="23" name="Image 0" descr="C:\Users\world\.zcode\workspace\default\triptrek-deck\assets\phone_hd-obz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013" y="1508760"/>
            <a:ext cx="1985895" cy="429768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8503920" y="6053328"/>
            <a:ext cx="2926080" cy="530352"/>
          </a:xfrm>
          <a:prstGeom prst="roundRect">
            <a:avLst>
              <a:gd name="adj" fmla="val 50000"/>
            </a:avLst>
          </a:prstGeom>
          <a:solidFill>
            <a:srgbClr val="C43B15"/>
          </a:solidFill>
          <a:ln/>
          <a:effectLst>
            <a:outerShdw sx="100000" sy="100000" kx="0" ky="0" algn="bl" rotWithShape="0" blurRad="101600" dist="38100" dir="2700000">
              <a:srgbClr val="3A2418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503920" y="605332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TripTrek — всё в одном месте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12</a:t>
            </a:r>
            <a:endParaRPr lang="en-US" sz="1000" dirty="0"/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C43B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ПОЧЕМУ ЭТО УДОБНО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Всё для поездки —</a:t>
            </a:r>
            <a:endParaRPr lang="en-US" sz="2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и ничего лишнего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45059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C43B1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30352" y="35844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разделов — от карты до разговорника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44952" y="2606040"/>
            <a:ext cx="0" cy="1554480"/>
          </a:xfrm>
          <a:prstGeom prst="line">
            <a:avLst/>
          </a:prstGeom>
          <a:noFill/>
          <a:ln w="12700">
            <a:solidFill>
              <a:srgbClr val="E4D8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64992" y="245059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C43B1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392424" y="35844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платформы: Android, iPhone, комп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07024" y="2606040"/>
            <a:ext cx="0" cy="1554480"/>
          </a:xfrm>
          <a:prstGeom prst="line">
            <a:avLst/>
          </a:prstGeom>
          <a:noFill/>
          <a:ln w="12700">
            <a:solidFill>
              <a:srgbClr val="E4D8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7064" y="245059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C43B1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254496" y="35844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установок из магазина — это PWA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69096" y="2606040"/>
            <a:ext cx="0" cy="1554480"/>
          </a:xfrm>
          <a:prstGeom prst="line">
            <a:avLst/>
          </a:prstGeom>
          <a:noFill/>
          <a:ln w="12700">
            <a:solidFill>
              <a:srgbClr val="E4D8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89136" y="245059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C43B1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9116568" y="35844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ссылка, чтобы оказаться в поездке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46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Realtime-синхронизация у всех участников  ·  </a:t>
            </a:r>
            <a:pPr indent="0" marL="0">
              <a:buNone/>
            </a:pPr>
            <a:r>
              <a:rPr lang="en-US" sz="14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пуши, чат и карта — в одном месте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2636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7A9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 скриншоты в презентации — живой интерфейс TripTrek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12</a:t>
            </a:r>
            <a:endParaRPr lang="en-US" sz="1000" dirty="0"/>
          </a:p>
        </p:txBody>
      </p:sp>
    </p:spTree>
  </p:cSld>
  <p:clrMapOvr>
    <a:masterClrMapping/>
  </p:clrMapOvr>
  <p:transition>
    <mc:AlternateContent xmlns:mc="http://schemas.openxmlformats.org/markup-compatibility/2006">
      <mc:Choice xmlns:p159="http://schemas.microsoft.com/office/powerpoint/2015/09/main" Requires="p159">
        <p159:morph option="byObject"/>
      </mc:Choice>
      <mc:Fallback>
        <p:fade/>
      </mc:Fallback>
    </mc:AlternateContent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4022" y="955548"/>
            <a:ext cx="2466757" cy="5221224"/>
          </a:xfrm>
          <a:prstGeom prst="roundRect">
            <a:avLst>
              <a:gd name="adj" fmla="val 5190"/>
            </a:avLst>
          </a:prstGeom>
          <a:solidFill>
            <a:srgbClr val="17100D"/>
          </a:solidFill>
          <a:ln w="9525">
            <a:solidFill>
              <a:srgbClr val="3D2C22"/>
            </a:solidFill>
            <a:prstDash val="solid"/>
          </a:ln>
          <a:effectLst>
            <a:outerShdw sx="100000" sy="100000" kx="0" ky="0" algn="bl" rotWithShape="0" blurRad="203200" dist="76200" dir="2700000">
              <a:srgbClr val="3A2418">
                <a:alpha val="35000"/>
              </a:srgbClr>
            </a:outerShdw>
          </a:effectLst>
        </p:spPr>
      </p:sp>
      <p:pic>
        <p:nvPicPr>
          <p:cNvPr id="3" name="Image 0" descr="C:\Users\world\.zcode\workspace\default\triptrek-deck\assets\phone_hd-marshr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14" y="1005840"/>
            <a:ext cx="2366173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92040" y="685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C43B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МАРШРУТ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892040" y="105156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План по дням,</a:t>
            </a:r>
            <a:endParaRPr lang="en-US" sz="3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который не рассыпется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892040" y="259232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7" name="Text 4"/>
          <p:cNvSpPr/>
          <p:nvPr/>
        </p:nvSpPr>
        <p:spPr>
          <a:xfrm>
            <a:off x="5184648" y="2478024"/>
            <a:ext cx="63825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День за днём — места, время, заметки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первого утра до последнего вечера — весь ход поездки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892040" y="36896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9" name="Text 6"/>
          <p:cNvSpPr/>
          <p:nvPr/>
        </p:nvSpPr>
        <p:spPr>
          <a:xfrm>
            <a:off x="5184648" y="3575304"/>
            <a:ext cx="63825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Типы точек: транспорт, еда, жильё, музей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 каждой точки — время, цена и статус «посещено»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892040" y="478688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11" name="Text 8"/>
          <p:cNvSpPr/>
          <p:nvPr/>
        </p:nvSpPr>
        <p:spPr>
          <a:xfrm>
            <a:off x="5184648" y="4672584"/>
            <a:ext cx="63825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Прогресс и совет дня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Подсказывает, что рядом и что дальше по плану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892040" y="5943600"/>
            <a:ext cx="3383280" cy="384048"/>
          </a:xfrm>
          <a:prstGeom prst="roundRect">
            <a:avLst>
              <a:gd name="adj" fmla="val 47619"/>
            </a:avLst>
          </a:prstGeom>
          <a:solidFill>
            <a:srgbClr val="FBE9DF"/>
          </a:solidFill>
          <a:ln w="12700">
            <a:solidFill>
              <a:srgbClr val="E8C4B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59298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1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Дни, время и статусы — всё по полочкам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12</a:t>
            </a:r>
            <a:endParaRPr lang="en-US" sz="1000" dirty="0"/>
          </a:p>
        </p:txBody>
      </p:sp>
    </p:spTree>
  </p:cSld>
  <p:clrMapOvr>
    <a:masterClrMapping/>
  </p:clrMapOvr>
  <p:transition>
    <mc:AlternateContent xmlns:mc="http://schemas.openxmlformats.org/markup-compatibility/2006">
      <mc:Choice xmlns:p159="http://schemas.microsoft.com/office/powerpoint/2015/09/main" Requires="p159">
        <p159:morph option="byObject"/>
      </mc:Choice>
      <mc:Fallback>
        <p:fade/>
      </mc:Fallback>
    </mc:AlternateContent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C43B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КАРТА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Маршрут,</a:t>
            </a:r>
            <a:endParaRPr lang="en-US" sz="3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который видно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59232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2478024"/>
            <a:ext cx="54681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 места поездки — на одной карте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Точки собираются из OpenStreetMap, маршрут виден целиком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6896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3575304"/>
            <a:ext cx="54681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Фильтры по городам и категориям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Весь маршрут, один город или только еда — одним касанием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478688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4672584"/>
            <a:ext cx="54681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Нити дней и «рядом со мной»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Кафе и бары вокруг: приложение само показывает, что рядом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5943600"/>
            <a:ext cx="2926080" cy="384048"/>
          </a:xfrm>
          <a:prstGeom prst="roundRect">
            <a:avLst>
              <a:gd name="adj" fmla="val 47619"/>
            </a:avLst>
          </a:prstGeom>
          <a:solidFill>
            <a:srgbClr val="FBE9DF"/>
          </a:solidFill>
          <a:ln w="12700">
            <a:solidFill>
              <a:srgbClr val="E8C4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59298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1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OpenStreetMap · работает как PWA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3542" y="955548"/>
            <a:ext cx="2466757" cy="5221224"/>
          </a:xfrm>
          <a:prstGeom prst="roundRect">
            <a:avLst>
              <a:gd name="adj" fmla="val 5190"/>
            </a:avLst>
          </a:prstGeom>
          <a:solidFill>
            <a:srgbClr val="17100D"/>
          </a:solidFill>
          <a:ln w="9525">
            <a:solidFill>
              <a:srgbClr val="3D2C22"/>
            </a:solidFill>
            <a:prstDash val="solid"/>
          </a:ln>
          <a:effectLst>
            <a:outerShdw sx="100000" sy="100000" kx="0" ky="0" algn="bl" rotWithShape="0" blurRad="203200" dist="76200" dir="2700000">
              <a:srgbClr val="3A2418">
                <a:alpha val="35000"/>
              </a:srgbClr>
            </a:outerShdw>
          </a:effectLst>
        </p:spPr>
      </p:sp>
      <p:pic>
        <p:nvPicPr>
          <p:cNvPr id="13" name="Image 0" descr="C:\Users\world\.zcode\workspace\default\triptrek-deck\assets\phone_hd-kar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834" y="1005840"/>
            <a:ext cx="2366173" cy="5120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12</a:t>
            </a:r>
            <a:endParaRPr lang="en-US" sz="1000" dirty="0"/>
          </a:p>
        </p:txBody>
      </p:sp>
    </p:spTree>
  </p:cSld>
  <p:clrMapOvr>
    <a:masterClrMapping/>
  </p:clrMapOvr>
  <p:transition>
    <mc:AlternateContent xmlns:mc="http://schemas.openxmlformats.org/markup-compatibility/2006">
      <mc:Choice xmlns:p159="http://schemas.microsoft.com/office/powerpoint/2015/09/main" Requires="p159">
        <p159:morph option="byObject"/>
      </mc:Choice>
      <mc:Fallback>
        <p:fade/>
      </mc:Fallback>
    </mc:AlternateContent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4022" y="955548"/>
            <a:ext cx="2466757" cy="5221224"/>
          </a:xfrm>
          <a:prstGeom prst="roundRect">
            <a:avLst>
              <a:gd name="adj" fmla="val 5190"/>
            </a:avLst>
          </a:prstGeom>
          <a:solidFill>
            <a:srgbClr val="17100D"/>
          </a:solidFill>
          <a:ln w="9525">
            <a:solidFill>
              <a:srgbClr val="3D2C22"/>
            </a:solidFill>
            <a:prstDash val="solid"/>
          </a:ln>
          <a:effectLst>
            <a:outerShdw sx="100000" sy="100000" kx="0" ky="0" algn="bl" rotWithShape="0" blurRad="203200" dist="76200" dir="2700000">
              <a:srgbClr val="3A2418">
                <a:alpha val="35000"/>
              </a:srgbClr>
            </a:outerShdw>
          </a:effectLst>
        </p:spPr>
      </p:sp>
      <p:pic>
        <p:nvPicPr>
          <p:cNvPr id="3" name="Image 0" descr="C:\Users\world\.zcode\workspace\default\triptrek-deck\assets\phone_hd-byudzh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14" y="1005840"/>
            <a:ext cx="2366173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92040" y="685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C43B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БЮДЖЕТ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892040" y="105156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Общий бюджет —</a:t>
            </a:r>
            <a:endParaRPr lang="en-US" sz="3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без обид и калькулятора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892040" y="259232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7" name="Text 4"/>
          <p:cNvSpPr/>
          <p:nvPr/>
        </p:nvSpPr>
        <p:spPr>
          <a:xfrm>
            <a:off x="5184648" y="2478024"/>
            <a:ext cx="63825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«Кто, кому и сколько» — считает сам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Долги и переводы с подтверждением: ноль неловких разговоров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892040" y="36896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9" name="Text 6"/>
          <p:cNvSpPr/>
          <p:nvPr/>
        </p:nvSpPr>
        <p:spPr>
          <a:xfrm>
            <a:off x="5184648" y="3575304"/>
            <a:ext cx="63825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Аналитика трат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Категории, дни и участники — видно, куда уходит бюджет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892040" y="478688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11" name="Text 8"/>
          <p:cNvSpPr/>
          <p:nvPr/>
        </p:nvSpPr>
        <p:spPr>
          <a:xfrm>
            <a:off x="5184648" y="4672584"/>
            <a:ext cx="63825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 и личные фильтры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Общий котёл и «моё/чужое» — каждый видит свою картину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892040" y="5943600"/>
            <a:ext cx="3566160" cy="384048"/>
          </a:xfrm>
          <a:prstGeom prst="roundRect">
            <a:avLst>
              <a:gd name="adj" fmla="val 47619"/>
            </a:avLst>
          </a:prstGeom>
          <a:solidFill>
            <a:srgbClr val="FBE9DF"/>
          </a:solidFill>
          <a:ln w="12700">
            <a:solidFill>
              <a:srgbClr val="E8C4B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59298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1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Мультивалютность и конвертер — под рукой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12</a:t>
            </a:r>
            <a:endParaRPr lang="en-US" sz="1000" dirty="0"/>
          </a:p>
        </p:txBody>
      </p:sp>
    </p:spTree>
  </p:cSld>
  <p:clrMapOvr>
    <a:masterClrMapping/>
  </p:clrMapOvr>
  <p:transition>
    <mc:AlternateContent xmlns:mc="http://schemas.openxmlformats.org/markup-compatibility/2006">
      <mc:Choice xmlns:p159="http://schemas.microsoft.com/office/powerpoint/2015/09/main" Requires="p159">
        <p159:morph option="byObject"/>
      </mc:Choice>
      <mc:Fallback>
        <p:fade/>
      </mc:Fallback>
    </mc:AlternateContent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C43B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ЛЮДИ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Компания в курсе</a:t>
            </a:r>
            <a:endParaRPr lang="en-US" sz="3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без «ты видел?»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50088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2386584"/>
            <a:ext cx="54681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Чат поездки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Обсуждение живёт рядом с маршрутом, а не в личке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47014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3355848"/>
            <a:ext cx="54681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Лента событий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Кто присоединился, что посетили — хроника всей поездки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44394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4325112"/>
            <a:ext cx="54681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 у всех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Правки маршрута и бюджета видны мгновенно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54086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5294376"/>
            <a:ext cx="54681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Приглашение в один тап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Ссылка с кодом поездки — и друг уже внутри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84188" y="1321308"/>
            <a:ext cx="2170985" cy="4581144"/>
          </a:xfrm>
          <a:prstGeom prst="roundRect">
            <a:avLst>
              <a:gd name="adj" fmla="val 5897"/>
            </a:avLst>
          </a:prstGeom>
          <a:solidFill>
            <a:srgbClr val="17100D"/>
          </a:solidFill>
          <a:ln w="9525">
            <a:solidFill>
              <a:srgbClr val="3D2C22"/>
            </a:solidFill>
            <a:prstDash val="solid"/>
          </a:ln>
          <a:effectLst>
            <a:outerShdw sx="100000" sy="100000" kx="0" ky="0" algn="bl" rotWithShape="0" blurRad="203200" dist="76200" dir="2700000">
              <a:srgbClr val="3A2418">
                <a:alpha val="35000"/>
              </a:srgbClr>
            </a:outerShdw>
          </a:effectLst>
        </p:spPr>
      </p:sp>
      <p:pic>
        <p:nvPicPr>
          <p:cNvPr id="13" name="Image 0" descr="C:\Users\world\.zcode\workspace\default\triptrek-deck\assets\phone_hd-len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480" y="1371600"/>
            <a:ext cx="2070401" cy="44805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563638" y="932688"/>
            <a:ext cx="2361124" cy="4992624"/>
          </a:xfrm>
          <a:prstGeom prst="roundRect">
            <a:avLst>
              <a:gd name="adj" fmla="val 5422"/>
            </a:avLst>
          </a:prstGeom>
          <a:solidFill>
            <a:srgbClr val="17100D"/>
          </a:solidFill>
          <a:ln w="9525">
            <a:solidFill>
              <a:srgbClr val="3D2C22"/>
            </a:solidFill>
            <a:prstDash val="solid"/>
          </a:ln>
          <a:effectLst>
            <a:outerShdw sx="100000" sy="100000" kx="0" ky="0" algn="bl" rotWithShape="0" blurRad="203200" dist="76200" dir="2700000">
              <a:srgbClr val="3A2418">
                <a:alpha val="35000"/>
              </a:srgbClr>
            </a:outerShdw>
          </a:effectLst>
        </p:spPr>
      </p:sp>
      <p:pic>
        <p:nvPicPr>
          <p:cNvPr id="15" name="Image 1" descr="C:\Users\world\.zcode\workspace\default\triptrek-deck\assets\phone_hd-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930" y="982980"/>
            <a:ext cx="2260540" cy="4892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12</a:t>
            </a:r>
            <a:endParaRPr lang="en-US" sz="1000" dirty="0"/>
          </a:p>
        </p:txBody>
      </p:sp>
    </p:spTree>
  </p:cSld>
  <p:clrMapOvr>
    <a:masterClrMapping/>
  </p:clrMapOvr>
  <p:transition>
    <mc:AlternateContent xmlns:mc="http://schemas.openxmlformats.org/markup-compatibility/2006">
      <mc:Choice xmlns:p159="http://schemas.microsoft.com/office/powerpoint/2015/09/main" Requires="p159">
        <p159:morph option="byObject"/>
      </mc:Choice>
      <mc:Fallback>
        <p:fade/>
      </mc:Fallback>
    </mc:AlternateContent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748" y="1321308"/>
            <a:ext cx="2170985" cy="4581144"/>
          </a:xfrm>
          <a:prstGeom prst="roundRect">
            <a:avLst>
              <a:gd name="adj" fmla="val 5897"/>
            </a:avLst>
          </a:prstGeom>
          <a:solidFill>
            <a:srgbClr val="17100D"/>
          </a:solidFill>
          <a:ln w="9525">
            <a:solidFill>
              <a:srgbClr val="3D2C22"/>
            </a:solidFill>
            <a:prstDash val="solid"/>
          </a:ln>
          <a:effectLst>
            <a:outerShdw sx="100000" sy="100000" kx="0" ky="0" algn="bl" rotWithShape="0" blurRad="203200" dist="76200" dir="2700000">
              <a:srgbClr val="3A2418">
                <a:alpha val="35000"/>
              </a:srgbClr>
            </a:outerShdw>
          </a:effectLst>
        </p:spPr>
      </p:sp>
      <p:pic>
        <p:nvPicPr>
          <p:cNvPr id="3" name="Image 0" descr="C:\Users\world\.zcode\workspace\default\triptrek-deck\assets\phone_hd-e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40" y="1371600"/>
            <a:ext cx="2070401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14198" y="932688"/>
            <a:ext cx="2361124" cy="4992624"/>
          </a:xfrm>
          <a:prstGeom prst="roundRect">
            <a:avLst>
              <a:gd name="adj" fmla="val 5422"/>
            </a:avLst>
          </a:prstGeom>
          <a:solidFill>
            <a:srgbClr val="17100D"/>
          </a:solidFill>
          <a:ln w="9525">
            <a:solidFill>
              <a:srgbClr val="3D2C22"/>
            </a:solidFill>
            <a:prstDash val="solid"/>
          </a:ln>
          <a:effectLst>
            <a:outerShdw sx="100000" sy="100000" kx="0" ky="0" algn="bl" rotWithShape="0" blurRad="203200" dist="76200" dir="2700000">
              <a:srgbClr val="3A2418">
                <a:alpha val="35000"/>
              </a:srgbClr>
            </a:outerShdw>
          </a:effectLst>
        </p:spPr>
      </p:sp>
      <p:pic>
        <p:nvPicPr>
          <p:cNvPr id="5" name="Image 1" descr="C:\Users\world\.zcode\workspace\default\triptrek-deck\assets\phone_hd-fraz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490" y="982980"/>
            <a:ext cx="2260540" cy="4892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0" y="685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C43B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ВКУС И ЯЗЫК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6400800" y="105156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Ешь как местный,</a:t>
            </a:r>
            <a:endParaRPr lang="en-US" sz="3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говори как свой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6400800" y="26380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9" name="Text 5"/>
          <p:cNvSpPr/>
          <p:nvPr/>
        </p:nvSpPr>
        <p:spPr>
          <a:xfrm>
            <a:off x="6693408" y="2523744"/>
            <a:ext cx="51937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Гастрогид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попробовать на завтрак, обед и ужин — по фильтрам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0" y="37170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11" name="Text 7"/>
          <p:cNvSpPr/>
          <p:nvPr/>
        </p:nvSpPr>
        <p:spPr>
          <a:xfrm>
            <a:off x="6693408" y="3602736"/>
            <a:ext cx="51937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Разговорник «в дорогу»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Фразы, иероглифы и произношение — под рукой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0" y="47960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13" name="Text 9"/>
          <p:cNvSpPr/>
          <p:nvPr/>
        </p:nvSpPr>
        <p:spPr>
          <a:xfrm>
            <a:off x="6693408" y="4681728"/>
            <a:ext cx="51937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Конвертер валют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Юани, доллары и «сколько это в привычных деньгах»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0" y="5943600"/>
            <a:ext cx="1417320" cy="384048"/>
          </a:xfrm>
          <a:prstGeom prst="roundRect">
            <a:avLst>
              <a:gd name="adj" fmla="val 47619"/>
            </a:avLst>
          </a:prstGeom>
          <a:solidFill>
            <a:srgbClr val="FBE9DF"/>
          </a:solidFill>
          <a:ln w="12700">
            <a:solidFill>
              <a:srgbClr val="E8C4B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0" y="592988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1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Гастрогид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955280" y="5943600"/>
            <a:ext cx="1645920" cy="384048"/>
          </a:xfrm>
          <a:prstGeom prst="roundRect">
            <a:avLst>
              <a:gd name="adj" fmla="val 47619"/>
            </a:avLst>
          </a:prstGeom>
          <a:solidFill>
            <a:srgbClr val="FBE9DF"/>
          </a:solidFill>
          <a:ln w="12700">
            <a:solidFill>
              <a:srgbClr val="E8C4B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955280" y="59298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1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Разговорник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738360" y="594360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FBE9DF"/>
          </a:solidFill>
          <a:ln w="12700">
            <a:solidFill>
              <a:srgbClr val="E8C4B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738360" y="59298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1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Валюта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12</a:t>
            </a:r>
            <a:endParaRPr lang="en-US" sz="1000" dirty="0"/>
          </a:p>
        </p:txBody>
      </p:sp>
    </p:spTree>
  </p:cSld>
  <p:clrMapOvr>
    <a:masterClrMapping/>
  </p:clrMapOvr>
  <p:transition>
    <mc:AlternateContent xmlns:mc="http://schemas.openxmlformats.org/markup-compatibility/2006">
      <mc:Choice xmlns:p159="http://schemas.microsoft.com/office/powerpoint/2015/09/main" Requires="p159">
        <p159:morph option="byObject"/>
      </mc:Choice>
      <mc:Fallback>
        <p:fade/>
      </mc:Fallback>
    </mc:AlternateContent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C43B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ИИ-ПОМОЩНИК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ИИ — третий участник</a:t>
            </a:r>
            <a:endParaRPr lang="en-US" sz="3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поездки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5466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2432304"/>
            <a:ext cx="54681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«Магия воспоминаний»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ИИ собирает фото и события в живой рассказ о поездке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60730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3493008"/>
            <a:ext cx="54681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Подсказки по делу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Совет дня, идеи мест и саммари для опоздавших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46680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4553712"/>
            <a:ext cx="54681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Свой ключ — свои данные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BYOK: ваша модель — и ни одной строки чужому облаку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576072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2A221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815584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F5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«Спросите местных о лучшем месте для обеда — они знают!»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B7A9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совет дня прямо из приложения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3542" y="955548"/>
            <a:ext cx="2466757" cy="5221224"/>
          </a:xfrm>
          <a:prstGeom prst="roundRect">
            <a:avLst>
              <a:gd name="adj" fmla="val 5190"/>
            </a:avLst>
          </a:prstGeom>
          <a:solidFill>
            <a:srgbClr val="17100D"/>
          </a:solidFill>
          <a:ln w="9525">
            <a:solidFill>
              <a:srgbClr val="3D2C22"/>
            </a:solidFill>
            <a:prstDash val="solid"/>
          </a:ln>
          <a:effectLst>
            <a:outerShdw sx="100000" sy="100000" kx="0" ky="0" algn="bl" rotWithShape="0" blurRad="203200" dist="76200" dir="2700000">
              <a:srgbClr val="3A2418">
                <a:alpha val="35000"/>
              </a:srgbClr>
            </a:outerShdw>
          </a:effectLst>
        </p:spPr>
      </p:sp>
      <p:pic>
        <p:nvPicPr>
          <p:cNvPr id="13" name="Image 0" descr="C:\Users\world\.zcode\workspace\default\triptrek-deck\assets\phone_hd-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834" y="1005840"/>
            <a:ext cx="2366173" cy="5120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12</a:t>
            </a:r>
            <a:endParaRPr lang="en-US" sz="1000" dirty="0"/>
          </a:p>
        </p:txBody>
      </p:sp>
    </p:spTree>
  </p:cSld>
  <p:clrMapOvr>
    <a:masterClrMapping/>
  </p:clrMapOvr>
  <p:transition>
    <mc:AlternateContent xmlns:mc="http://schemas.openxmlformats.org/markup-compatibility/2006">
      <mc:Choice xmlns:p159="http://schemas.microsoft.com/office/powerpoint/2015/09/main" Requires="p159">
        <p159:morph option="byObject"/>
      </mc:Choice>
      <mc:Fallback>
        <p:fade/>
      </mc:Fallback>
    </mc:AlternateContent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C43B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ЭТО ЕЩЁ НЕ ВСЁ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Целая обойма мелочей,</a:t>
            </a:r>
            <a:endParaRPr lang="en-US" sz="2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которые делают поездку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54026" y="1961388"/>
            <a:ext cx="1663948" cy="3483864"/>
          </a:xfrm>
          <a:prstGeom prst="roundRect">
            <a:avLst>
              <a:gd name="adj" fmla="val 7694"/>
            </a:avLst>
          </a:prstGeom>
          <a:solidFill>
            <a:srgbClr val="17100D"/>
          </a:solidFill>
          <a:ln w="9525">
            <a:solidFill>
              <a:srgbClr val="3D2C22"/>
            </a:solidFill>
            <a:prstDash val="solid"/>
          </a:ln>
          <a:effectLst>
            <a:outerShdw sx="100000" sy="100000" kx="0" ky="0" algn="bl" rotWithShape="0" blurRad="203200" dist="76200" dir="2700000">
              <a:srgbClr val="3A2418">
                <a:alpha val="35000"/>
              </a:srgbClr>
            </a:outerShdw>
          </a:effectLst>
        </p:spPr>
      </p:sp>
      <p:pic>
        <p:nvPicPr>
          <p:cNvPr id="5" name="Image 0" descr="C:\Users\world\.zcode\workspace\default\triptrek-deck\assets\phone_hd-nagrad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18" y="2011680"/>
            <a:ext cx="1563364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5577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Награды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ачивки за пройденный маршрут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294506" y="1961388"/>
            <a:ext cx="1663948" cy="3483864"/>
          </a:xfrm>
          <a:prstGeom prst="roundRect">
            <a:avLst>
              <a:gd name="adj" fmla="val 7694"/>
            </a:avLst>
          </a:prstGeom>
          <a:solidFill>
            <a:srgbClr val="17100D"/>
          </a:solidFill>
          <a:ln w="9525">
            <a:solidFill>
              <a:srgbClr val="3D2C22"/>
            </a:solidFill>
            <a:prstDash val="solid"/>
          </a:ln>
          <a:effectLst>
            <a:outerShdw sx="100000" sy="100000" kx="0" ky="0" algn="bl" rotWithShape="0" blurRad="203200" dist="76200" dir="2700000">
              <a:srgbClr val="3A2418">
                <a:alpha val="35000"/>
              </a:srgbClr>
            </a:outerShdw>
          </a:effectLst>
        </p:spPr>
      </p:sp>
      <p:pic>
        <p:nvPicPr>
          <p:cNvPr id="8" name="Image 1" descr="C:\Users\world\.zcode\workspace\default\triptrek-deck\assets\phone_hd-chi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798" y="2011680"/>
            <a:ext cx="1563364" cy="3383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46320" y="5577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Chill-места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где присесть и выдохнуть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9134986" y="1961388"/>
            <a:ext cx="1663948" cy="3483864"/>
          </a:xfrm>
          <a:prstGeom prst="roundRect">
            <a:avLst>
              <a:gd name="adj" fmla="val 7694"/>
            </a:avLst>
          </a:prstGeom>
          <a:solidFill>
            <a:srgbClr val="17100D"/>
          </a:solidFill>
          <a:ln w="9525">
            <a:solidFill>
              <a:srgbClr val="3D2C22"/>
            </a:solidFill>
            <a:prstDash val="solid"/>
          </a:ln>
          <a:effectLst>
            <a:outerShdw sx="100000" sy="100000" kx="0" ky="0" algn="bl" rotWithShape="0" blurRad="203200" dist="76200" dir="2700000">
              <a:srgbClr val="3A2418">
                <a:alpha val="35000"/>
              </a:srgbClr>
            </a:outerShdw>
          </a:effectLst>
        </p:spPr>
      </p:sp>
      <p:pic>
        <p:nvPicPr>
          <p:cNvPr id="11" name="Image 2" descr="C:\Users\world\.zcode\workspace\default\triptrek-deck\assets\phone_hd-pogod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278" y="2011680"/>
            <a:ext cx="1563364" cy="33832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0" y="5577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Погода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прогноз по дням поездки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502920" y="6400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дневник, галерея, поиск по поездке, бэкап данных, тёмная тема — из коробки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12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C43B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НАЧАТЬ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2619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От нуля до «едем!» — за один вечер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47472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E4D8CB"/>
            </a:solidFill>
            <a:prstDash val="solid"/>
          </a:ln>
          <a:effectLst>
            <a:outerShdw sx="100000" sy="100000" kx="0" ky="0" algn="bl" rotWithShape="0" blurRad="101600" dist="38100" dir="2700000">
              <a:srgbClr val="3A241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76272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43B1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95528" y="3063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Создай поездку</a:t>
            </a:r>
            <a:endParaRPr lang="en-US" sz="17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даты, город, бюджет — за минуту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032504" y="3127248"/>
            <a:ext cx="292608" cy="0"/>
          </a:xfrm>
          <a:prstGeom prst="line">
            <a:avLst/>
          </a:prstGeom>
          <a:noFill/>
          <a:ln w="25400">
            <a:solidFill>
              <a:srgbClr val="C43B1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51960" y="1965960"/>
            <a:ext cx="347472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E4D8CB"/>
            </a:solidFill>
            <a:prstDash val="solid"/>
          </a:ln>
          <a:effectLst>
            <a:outerShdw sx="100000" sy="100000" kx="0" ky="0" algn="bl" rotWithShape="0" blurRad="101600" dist="38100" dir="2700000">
              <a:srgbClr val="3A241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2176272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43B1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44568" y="3063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Позови друзей</a:t>
            </a:r>
            <a:endParaRPr lang="en-US" sz="17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ссылка или код — и друг уже внутри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81544" y="3127248"/>
            <a:ext cx="292608" cy="0"/>
          </a:xfrm>
          <a:prstGeom prst="line">
            <a:avLst/>
          </a:prstGeom>
          <a:noFill/>
          <a:ln w="25400">
            <a:solidFill>
              <a:srgbClr val="C43B1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01000" y="1965960"/>
            <a:ext cx="3474720" cy="2331720"/>
          </a:xfrm>
          <a:prstGeom prst="roundRect">
            <a:avLst>
              <a:gd name="adj" fmla="val 6275"/>
            </a:avLst>
          </a:prstGeom>
          <a:solidFill>
            <a:srgbClr val="C43B15"/>
          </a:solidFill>
          <a:ln w="12700">
            <a:solidFill>
              <a:srgbClr val="C43B15"/>
            </a:solidFill>
            <a:prstDash val="solid"/>
          </a:ln>
          <a:effectLst>
            <a:outerShdw sx="100000" sy="100000" kx="0" ky="0" algn="bl" rotWithShape="0" blurRad="101600" dist="38100" dir="2700000">
              <a:srgbClr val="3A241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2176272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C5A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93608" y="3063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Планируйте вместе</a:t>
            </a:r>
            <a:endParaRPr lang="en-US" sz="17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E1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маршрут, траты и чат — синхронно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02920" y="496976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855464"/>
            <a:ext cx="74797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PWA: ставится прямо из браузера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Android, iPhone, компьютер — магазин приложений не нужен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589330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C43B15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5779008"/>
            <a:ext cx="74797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61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Push-уведомления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8A7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приглашения, изменения плана и напоминания о событиях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9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12</a:t>
            </a:r>
            <a:endParaRPr lang="en-US" sz="1000" dirty="0"/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830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dirty="0">
                <a:solidFill>
                  <a:srgbClr val="F5EDE4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Собери своих.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685800" y="27889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dirty="0">
                <a:solidFill>
                  <a:srgbClr val="C43B15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Отправляйся.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704088" y="4069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B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TripTrek — путешествия с друзьями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04088" y="4754880"/>
            <a:ext cx="4343400" cy="658368"/>
          </a:xfrm>
          <a:prstGeom prst="roundRect">
            <a:avLst>
              <a:gd name="adj" fmla="val 16667"/>
            </a:avLst>
          </a:prstGeom>
          <a:solidFill>
            <a:srgbClr val="241813"/>
          </a:solidFill>
          <a:ln w="12700">
            <a:solidFill>
              <a:srgbClr val="6B4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47548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triptrek.guild-ledger.net.by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989320"/>
            <a:ext cx="3154680" cy="0"/>
          </a:xfrm>
          <a:prstGeom prst="line">
            <a:avLst/>
          </a:prstGeom>
          <a:noFill/>
          <a:ln w="19050">
            <a:solidFill>
              <a:srgbClr val="7A453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777240" y="5943600"/>
            <a:ext cx="91440" cy="91440"/>
          </a:xfrm>
          <a:prstGeom prst="ellipse">
            <a:avLst/>
          </a:prstGeom>
          <a:solidFill>
            <a:srgbClr val="7A4530"/>
          </a:solidFill>
          <a:ln/>
        </p:spPr>
      </p:sp>
      <p:sp>
        <p:nvSpPr>
          <p:cNvPr id="9" name="Shape 7"/>
          <p:cNvSpPr/>
          <p:nvPr/>
        </p:nvSpPr>
        <p:spPr>
          <a:xfrm>
            <a:off x="3922776" y="5934456"/>
            <a:ext cx="109728" cy="109728"/>
          </a:xfrm>
          <a:prstGeom prst="ellipse">
            <a:avLst/>
          </a:prstGeom>
          <a:solidFill>
            <a:srgbClr val="F2AB83"/>
          </a:solidFill>
          <a:ln w="12700">
            <a:solidFill>
              <a:srgbClr val="7A4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58430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A9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 → компания → чемоданы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 rot="240000">
            <a:off x="8487322" y="681228"/>
            <a:ext cx="2593516" cy="5495544"/>
          </a:xfrm>
          <a:prstGeom prst="roundRect">
            <a:avLst>
              <a:gd name="adj" fmla="val 4936"/>
            </a:avLst>
          </a:prstGeom>
          <a:solidFill>
            <a:srgbClr val="17100D"/>
          </a:solidFill>
          <a:ln w="9525">
            <a:solidFill>
              <a:srgbClr val="3D2C22"/>
            </a:solidFill>
            <a:prstDash val="solid"/>
          </a:ln>
          <a:effectLst>
            <a:outerShdw sx="100000" sy="100000" kx="0" ky="0" algn="bl" rotWithShape="0" blurRad="330200" dist="50800" dir="16200000">
              <a:srgbClr val="C43B15">
                <a:alpha val="45000"/>
              </a:srgbClr>
            </a:outerShdw>
          </a:effectLst>
        </p:spPr>
      </p:sp>
      <p:pic>
        <p:nvPicPr>
          <p:cNvPr id="12" name="Image 0" descr="C:\Users\world\.zcode\workspace\default\triptrek-deck\assets\phone_hd-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8537614" y="731520"/>
            <a:ext cx="2492932" cy="53949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TripTrek — путешествия с друзьями</dc:title>
  <dc:subject>PptxGenJS Presentation</dc:subject>
  <dc:creator>TripTrek</dc:creator>
  <cp:lastModifiedBy>TripTrek</cp:lastModifiedBy>
  <cp:revision>1</cp:revision>
  <dcterms:created xsi:type="dcterms:W3CDTF">2026-10-02T09:15:58Z</dcterms:created>
  <dcterms:modified xsi:type="dcterms:W3CDTF">2026-10-02T09:15:58Z</dcterms:modified>
</cp:coreProperties>
</file>